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charts/chart1.xml" ContentType="application/vnd.openxmlformats-officedocument.drawingml.chart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8"/>
  </p:notes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82" d="100"/>
          <a:sy n="82" d="100"/>
        </p:scale>
        <p:origin x="691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Subscription %</c:v>
                </c:pt>
              </c:strCache>
            </c:strRef>
          </c:tx>
          <c:spPr>
            <a:solidFill>
              <a:srgbClr val="1E2761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000" b="0" i="0" u="none" strike="noStrike">
                    <a:solidFill>
                      <a:srgbClr val="1E2761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</c:ext>
            </c:extLst>
          </c:dLbls>
          <c:cat>
            <c:strRef>
              <c:f>Sheet1!$A$2:$A$9</c:f>
              <c:strCache>
                <c:ptCount val="8"/>
                <c:pt idx="0">
                  <c:v>Student</c:v>
                </c:pt>
                <c:pt idx="1">
                  <c:v>Retired</c:v>
                </c:pt>
                <c:pt idx="2">
                  <c:v>Unemployed</c:v>
                </c:pt>
                <c:pt idx="3">
                  <c:v>Management</c:v>
                </c:pt>
                <c:pt idx="4">
                  <c:v>Admin</c:v>
                </c:pt>
                <c:pt idx="5">
                  <c:v>Technician</c:v>
                </c:pt>
                <c:pt idx="6">
                  <c:v>Services</c:v>
                </c:pt>
                <c:pt idx="7">
                  <c:v>Blue-Collar</c:v>
                </c:pt>
              </c:strCache>
            </c: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74.7</c:v>
                </c:pt>
                <c:pt idx="1">
                  <c:v>66.3</c:v>
                </c:pt>
                <c:pt idx="2">
                  <c:v>56.6</c:v>
                </c:pt>
                <c:pt idx="3">
                  <c:v>50.7</c:v>
                </c:pt>
                <c:pt idx="4">
                  <c:v>47.3</c:v>
                </c:pt>
                <c:pt idx="5">
                  <c:v>43.2</c:v>
                </c:pt>
                <c:pt idx="6">
                  <c:v>39</c:v>
                </c:pt>
                <c:pt idx="7">
                  <c:v>36.4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8B2D-461A-B076-A06D6489F747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B6478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6350" cap="flat">
              <a:solidFill>
                <a:srgbClr val="E6E9F2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B6478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22195243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8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0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607040" y="-1097280"/>
            <a:ext cx="2926080" cy="2926080"/>
          </a:xfrm>
          <a:prstGeom prst="ellipse">
            <a:avLst/>
          </a:prstGeom>
          <a:solidFill>
            <a:srgbClr val="141B49"/>
          </a:solidFill>
          <a:ln/>
        </p:spPr>
      </p:sp>
      <p:sp>
        <p:nvSpPr>
          <p:cNvPr id="3" name="Shape 1"/>
          <p:cNvSpPr/>
          <p:nvPr/>
        </p:nvSpPr>
        <p:spPr>
          <a:xfrm>
            <a:off x="11338560" y="5120640"/>
            <a:ext cx="2194560" cy="2194560"/>
          </a:xfrm>
          <a:prstGeom prst="ellipse">
            <a:avLst/>
          </a:prstGeom>
          <a:solidFill>
            <a:srgbClr val="141B49"/>
          </a:solidFill>
          <a:ln/>
        </p:spPr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594360"/>
            <a:ext cx="548640" cy="54864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640080" y="12344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kern="0" spc="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PORTFOLIO PROJECT  •  DATA ANALYSIS CASE STUDY</a:t>
            </a:r>
            <a:endParaRPr lang="en-US" sz="1300" dirty="0"/>
          </a:p>
        </p:txBody>
      </p:sp>
      <p:sp>
        <p:nvSpPr>
          <p:cNvPr id="6" name="Text 3"/>
          <p:cNvSpPr/>
          <p:nvPr/>
        </p:nvSpPr>
        <p:spPr>
          <a:xfrm>
            <a:off x="640080" y="1600200"/>
            <a:ext cx="10515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Bank Term Deposit Campaign Analysis</a:t>
            </a:r>
            <a:endParaRPr lang="en-US" sz="4000" dirty="0"/>
          </a:p>
        </p:txBody>
      </p:sp>
      <p:sp>
        <p:nvSpPr>
          <p:cNvPr id="7" name="Text 4"/>
          <p:cNvSpPr/>
          <p:nvPr/>
        </p:nvSpPr>
        <p:spPr>
          <a:xfrm>
            <a:off x="640080" y="2788920"/>
            <a:ext cx="9601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Diagnosing what drove subscriptions in the last campaign — and what should change in the next one</a:t>
            </a: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>
            <a:off x="640080" y="4389120"/>
            <a:ext cx="914400" cy="0"/>
          </a:xfrm>
          <a:prstGeom prst="line">
            <a:avLst/>
          </a:prstGeom>
          <a:noFill/>
          <a:ln w="25400">
            <a:solidFill>
              <a:srgbClr val="C9A227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640080" y="452628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Blessing Chineyenwa Chiagorom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Junior Data Analyst  •  Excel, SQL, Power </a:t>
            </a:r>
            <a:r>
              <a:rPr lang="en-US" sz="1300" dirty="0" smtClean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Business Question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96012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i="1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can the bank get greater effectiveness from its next term-deposit campaign?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5120640" cy="4023360"/>
          </a:xfrm>
          <a:prstGeom prst="roundRect">
            <a:avLst>
              <a:gd name="adj" fmla="val 1818"/>
            </a:avLst>
          </a:prstGeom>
          <a:solidFill>
            <a:srgbClr val="F4F6FC"/>
          </a:solidFill>
          <a:ln/>
          <a:effectLst>
            <a:outerShdw blurRad="101600" dist="38100" dir="2700000" algn="bl" rotWithShape="0">
              <a:srgbClr val="1E2761">
                <a:alpha val="12000"/>
              </a:srgbClr>
            </a:outerShdw>
          </a:effectLst>
        </p:spPr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8680" y="1965960"/>
            <a:ext cx="457200" cy="4572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463040" y="1993392"/>
            <a:ext cx="3931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this matters</a:t>
            </a:r>
            <a:endParaRPr lang="en-US" sz="1700" dirty="0"/>
          </a:p>
        </p:txBody>
      </p:sp>
      <p:sp>
        <p:nvSpPr>
          <p:cNvPr id="7" name="Text 4"/>
          <p:cNvSpPr/>
          <p:nvPr/>
        </p:nvSpPr>
        <p:spPr>
          <a:xfrm>
            <a:off x="868680" y="2514600"/>
            <a:ext cx="452628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11,162 customers were contacted in the last campaign — 47.4% subscribed to a term deposit.</a:t>
            </a:r>
            <a:endParaRPr lang="en-US" sz="1300" dirty="0"/>
          </a:p>
          <a:p>
            <a:pPr marL="342900" indent="-3429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bank needs to know which patterns predict a “yes,” so the next campaign spends call-center time and budget where it converts.</a:t>
            </a:r>
            <a:endParaRPr lang="en-US" sz="1300" dirty="0"/>
          </a:p>
          <a:p>
            <a:pPr marL="342900" indent="-342900">
              <a:lnSpc>
                <a:spcPct val="115000"/>
              </a:lnSpc>
              <a:buSzPct val="100000"/>
              <a:buChar char="•"/>
            </a:pPr>
            <a:r>
              <a:rPr lang="en-US" sz="130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analysis treats the last campaign as a diagnostic dataset for the next one's strategy.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5943600" y="1691640"/>
            <a:ext cx="5669280" cy="4023360"/>
          </a:xfrm>
          <a:prstGeom prst="roundRect">
            <a:avLst>
              <a:gd name="adj" fmla="val 1818"/>
            </a:avLst>
          </a:prstGeom>
          <a:solidFill>
            <a:srgbClr val="1E2761"/>
          </a:solidFill>
          <a:ln/>
          <a:effectLst>
            <a:outerShdw blurRad="101600" dist="38100" dir="2700000" algn="bl" rotWithShape="0">
              <a:srgbClr val="1E2761">
                <a:alpha val="12000"/>
              </a:srgbClr>
            </a:outerShdw>
          </a:effectLst>
        </p:spPr>
      </p:sp>
      <p:sp>
        <p:nvSpPr>
          <p:cNvPr id="9" name="Text 6"/>
          <p:cNvSpPr/>
          <p:nvPr/>
        </p:nvSpPr>
        <p:spPr>
          <a:xfrm>
            <a:off x="6309360" y="1965960"/>
            <a:ext cx="4937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Project Objectives</a:t>
            </a:r>
            <a:endParaRPr lang="en-US" sz="1700" dirty="0"/>
          </a:p>
        </p:txBody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09360" y="2532888"/>
            <a:ext cx="256032" cy="256032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6720840" y="2450592"/>
            <a:ext cx="4709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Understand the business problem from a data perspective</a:t>
            </a:r>
            <a:endParaRPr lang="en-US" sz="1300" dirty="0"/>
          </a:p>
        </p:txBody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09360" y="3136392"/>
            <a:ext cx="256032" cy="256032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6720840" y="3054096"/>
            <a:ext cx="4709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Analyze campaign data to uncover trends and patterns</a:t>
            </a:r>
            <a:endParaRPr lang="en-US" sz="1300" dirty="0"/>
          </a:p>
        </p:txBody>
      </p:sp>
      <p:pic>
        <p:nvPicPr>
          <p:cNvPr id="14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09360" y="3739896"/>
            <a:ext cx="256032" cy="256032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6720840" y="3657600"/>
            <a:ext cx="4709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Identify the factors that most influence subscription outcomes</a:t>
            </a:r>
            <a:endParaRPr lang="en-US" sz="1300" dirty="0"/>
          </a:p>
        </p:txBody>
      </p:sp>
      <p:pic>
        <p:nvPicPr>
          <p:cNvPr id="16" name="Image 4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09360" y="4343400"/>
            <a:ext cx="256032" cy="256032"/>
          </a:xfrm>
          <a:prstGeom prst="rect">
            <a:avLst/>
          </a:prstGeom>
        </p:spPr>
      </p:pic>
      <p:sp>
        <p:nvSpPr>
          <p:cNvPr id="17" name="Text 10"/>
          <p:cNvSpPr/>
          <p:nvPr/>
        </p:nvSpPr>
        <p:spPr>
          <a:xfrm>
            <a:off x="6720840" y="4261104"/>
            <a:ext cx="4709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Communicate findings in a way a business manager can act on</a:t>
            </a:r>
            <a:endParaRPr lang="en-US" sz="1300" dirty="0"/>
          </a:p>
        </p:txBody>
      </p:sp>
      <p:pic>
        <p:nvPicPr>
          <p:cNvPr id="18" name="Image 5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09360" y="4946904"/>
            <a:ext cx="256032" cy="256032"/>
          </a:xfrm>
          <a:prstGeom prst="rect">
            <a:avLst/>
          </a:prstGeom>
        </p:spPr>
      </p:pic>
      <p:sp>
        <p:nvSpPr>
          <p:cNvPr id="19" name="Text 11"/>
          <p:cNvSpPr/>
          <p:nvPr/>
        </p:nvSpPr>
        <p:spPr>
          <a:xfrm>
            <a:off x="6720840" y="4864608"/>
            <a:ext cx="4709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Translate insights into data-driven recommendations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the Data Shows: Four Patterns That Matter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96012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Subscription rate by customer history, demographics, and contact method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2606040" cy="3520440"/>
          </a:xfrm>
          <a:prstGeom prst="roundRect">
            <a:avLst>
              <a:gd name="adj" fmla="val 2807"/>
            </a:avLst>
          </a:prstGeom>
          <a:solidFill>
            <a:srgbClr val="F4F6FC"/>
          </a:solidFill>
          <a:ln/>
          <a:effectLst>
            <a:outerShdw blurRad="101600" dist="38100" dir="2700000" algn="bl" rotWithShape="0">
              <a:srgbClr val="1E2761">
                <a:alpha val="12000"/>
              </a:srgbClr>
            </a:outerShdw>
          </a:effectLst>
        </p:spPr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1874520"/>
            <a:ext cx="457200" cy="4572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731520" y="2468880"/>
            <a:ext cx="2240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91.3%</a:t>
            </a:r>
            <a:endParaRPr lang="en-US" sz="3400" dirty="0"/>
          </a:p>
        </p:txBody>
      </p:sp>
      <p:sp>
        <p:nvSpPr>
          <p:cNvPr id="7" name="Text 4"/>
          <p:cNvSpPr/>
          <p:nvPr/>
        </p:nvSpPr>
        <p:spPr>
          <a:xfrm>
            <a:off x="731520" y="3291840"/>
            <a:ext cx="22402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convert when the previous campaign contact was a success</a:t>
            </a:r>
            <a:endParaRPr lang="en-US" sz="1250" dirty="0"/>
          </a:p>
        </p:txBody>
      </p:sp>
      <p:sp>
        <p:nvSpPr>
          <p:cNvPr id="8" name="Text 5"/>
          <p:cNvSpPr/>
          <p:nvPr/>
        </p:nvSpPr>
        <p:spPr>
          <a:xfrm>
            <a:off x="731520" y="4389120"/>
            <a:ext cx="2240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vs. 40.7% for never-contacted</a:t>
            </a:r>
            <a:endParaRPr lang="en-US" sz="1050" dirty="0"/>
          </a:p>
        </p:txBody>
      </p:sp>
      <p:sp>
        <p:nvSpPr>
          <p:cNvPr id="9" name="Shape 6"/>
          <p:cNvSpPr/>
          <p:nvPr/>
        </p:nvSpPr>
        <p:spPr>
          <a:xfrm>
            <a:off x="3410712" y="1600200"/>
            <a:ext cx="2606040" cy="3520440"/>
          </a:xfrm>
          <a:prstGeom prst="roundRect">
            <a:avLst>
              <a:gd name="adj" fmla="val 2807"/>
            </a:avLst>
          </a:prstGeom>
          <a:solidFill>
            <a:srgbClr val="F4F6FC"/>
          </a:solidFill>
          <a:ln/>
          <a:effectLst>
            <a:outerShdw blurRad="101600" dist="38100" dir="2700000" algn="bl" rotWithShape="0">
              <a:srgbClr val="1E2761">
                <a:alpha val="12000"/>
              </a:srgbClr>
            </a:outerShdw>
          </a:effectLst>
        </p:spPr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39312" y="1874520"/>
            <a:ext cx="457200" cy="45720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3593592" y="2468880"/>
            <a:ext cx="2240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80.4%</a:t>
            </a:r>
            <a:endParaRPr lang="en-US" sz="3400" dirty="0"/>
          </a:p>
        </p:txBody>
      </p:sp>
      <p:sp>
        <p:nvSpPr>
          <p:cNvPr id="12" name="Text 8"/>
          <p:cNvSpPr/>
          <p:nvPr/>
        </p:nvSpPr>
        <p:spPr>
          <a:xfrm>
            <a:off x="3593592" y="3291840"/>
            <a:ext cx="22402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conversion rate among customers aged 65+</a:t>
            </a:r>
            <a:endParaRPr lang="en-US" sz="1250" dirty="0"/>
          </a:p>
        </p:txBody>
      </p:sp>
      <p:sp>
        <p:nvSpPr>
          <p:cNvPr id="13" name="Text 9"/>
          <p:cNvSpPr/>
          <p:nvPr/>
        </p:nvSpPr>
        <p:spPr>
          <a:xfrm>
            <a:off x="3593592" y="4389120"/>
            <a:ext cx="2240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students follow closely at 74.7%</a:t>
            </a:r>
            <a:endParaRPr lang="en-US" sz="1050" dirty="0"/>
          </a:p>
        </p:txBody>
      </p:sp>
      <p:sp>
        <p:nvSpPr>
          <p:cNvPr id="14" name="Shape 10"/>
          <p:cNvSpPr/>
          <p:nvPr/>
        </p:nvSpPr>
        <p:spPr>
          <a:xfrm>
            <a:off x="6272784" y="1600200"/>
            <a:ext cx="2606040" cy="3520440"/>
          </a:xfrm>
          <a:prstGeom prst="roundRect">
            <a:avLst>
              <a:gd name="adj" fmla="val 2807"/>
            </a:avLst>
          </a:prstGeom>
          <a:solidFill>
            <a:srgbClr val="F4F6FC"/>
          </a:solidFill>
          <a:ln/>
          <a:effectLst>
            <a:outerShdw blurRad="101600" dist="38100" dir="2700000" algn="bl" rotWithShape="0">
              <a:srgbClr val="1E2761">
                <a:alpha val="12000"/>
              </a:srgbClr>
            </a:outerShdw>
          </a:effectLst>
        </p:spPr>
      </p:sp>
      <p:pic>
        <p:nvPicPr>
          <p:cNvPr id="15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01384" y="1874520"/>
            <a:ext cx="457200" cy="457200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6455664" y="2468880"/>
            <a:ext cx="2240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54.3%</a:t>
            </a:r>
            <a:endParaRPr lang="en-US" sz="3400" dirty="0"/>
          </a:p>
        </p:txBody>
      </p:sp>
      <p:sp>
        <p:nvSpPr>
          <p:cNvPr id="17" name="Text 12"/>
          <p:cNvSpPr/>
          <p:nvPr/>
        </p:nvSpPr>
        <p:spPr>
          <a:xfrm>
            <a:off x="6455664" y="3291840"/>
            <a:ext cx="22402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convert via cellular contact</a:t>
            </a:r>
            <a:endParaRPr lang="en-US" sz="1250" dirty="0"/>
          </a:p>
        </p:txBody>
      </p:sp>
      <p:sp>
        <p:nvSpPr>
          <p:cNvPr id="18" name="Text 13"/>
          <p:cNvSpPr/>
          <p:nvPr/>
        </p:nvSpPr>
        <p:spPr>
          <a:xfrm>
            <a:off x="6455664" y="4389120"/>
            <a:ext cx="2240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vs. 22.6% for unknown/landline</a:t>
            </a:r>
            <a:endParaRPr lang="en-US" sz="1050" dirty="0"/>
          </a:p>
        </p:txBody>
      </p:sp>
      <p:sp>
        <p:nvSpPr>
          <p:cNvPr id="19" name="Shape 14"/>
          <p:cNvSpPr/>
          <p:nvPr/>
        </p:nvSpPr>
        <p:spPr>
          <a:xfrm>
            <a:off x="9134856" y="1600200"/>
            <a:ext cx="2606040" cy="3520440"/>
          </a:xfrm>
          <a:prstGeom prst="roundRect">
            <a:avLst>
              <a:gd name="adj" fmla="val 2807"/>
            </a:avLst>
          </a:prstGeom>
          <a:solidFill>
            <a:srgbClr val="F4F6FC"/>
          </a:solidFill>
          <a:ln/>
          <a:effectLst>
            <a:outerShdw blurRad="101600" dist="38100" dir="2700000" algn="bl" rotWithShape="0">
              <a:srgbClr val="1E2761">
                <a:alpha val="12000"/>
              </a:srgbClr>
            </a:outerShdw>
          </a:effectLst>
        </p:spPr>
      </p:sp>
      <p:pic>
        <p:nvPicPr>
          <p:cNvPr id="20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363456" y="1874520"/>
            <a:ext cx="457200" cy="457200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9317736" y="2468880"/>
            <a:ext cx="2240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537s</a:t>
            </a:r>
            <a:endParaRPr lang="en-US" sz="3400" dirty="0"/>
          </a:p>
        </p:txBody>
      </p:sp>
      <p:sp>
        <p:nvSpPr>
          <p:cNvPr id="22" name="Text 16"/>
          <p:cNvSpPr/>
          <p:nvPr/>
        </p:nvSpPr>
        <p:spPr>
          <a:xfrm>
            <a:off x="9317736" y="3291840"/>
            <a:ext cx="22402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avg. call duration for a “yes”</a:t>
            </a:r>
            <a:endParaRPr lang="en-US" sz="1250" dirty="0"/>
          </a:p>
        </p:txBody>
      </p:sp>
      <p:sp>
        <p:nvSpPr>
          <p:cNvPr id="23" name="Text 17"/>
          <p:cNvSpPr/>
          <p:nvPr/>
        </p:nvSpPr>
        <p:spPr>
          <a:xfrm>
            <a:off x="9317736" y="4389120"/>
            <a:ext cx="2240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vs. 223s for a “no”</a:t>
            </a:r>
            <a:endParaRPr lang="en-US" sz="10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Which Customer Segments Respond Best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96012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Subscription rate by job category (%)</a:t>
            </a:r>
            <a:endParaRPr lang="en-US" sz="1400" dirty="0"/>
          </a:p>
        </p:txBody>
      </p:sp>
      <p:graphicFrame>
        <p:nvGraphicFramePr>
          <p:cNvPr id="4" name="Chart 0"/>
          <p:cNvGraphicFramePr/>
          <p:nvPr/>
        </p:nvGraphicFramePr>
        <p:xfrm>
          <a:off x="365760" y="1417320"/>
          <a:ext cx="6949440" cy="39776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5" name="Shape 2"/>
          <p:cNvSpPr/>
          <p:nvPr/>
        </p:nvSpPr>
        <p:spPr>
          <a:xfrm>
            <a:off x="7635240" y="1417320"/>
            <a:ext cx="3977640" cy="3977640"/>
          </a:xfrm>
          <a:prstGeom prst="roundRect">
            <a:avLst>
              <a:gd name="adj" fmla="val 1839"/>
            </a:avLst>
          </a:prstGeom>
          <a:solidFill>
            <a:srgbClr val="1E2761"/>
          </a:solidFill>
          <a:ln/>
          <a:effectLst>
            <a:outerShdw blurRad="101600" dist="38100" dir="2700000" algn="bl" rotWithShape="0">
              <a:srgbClr val="1E2761">
                <a:alpha val="12000"/>
              </a:srgbClr>
            </a:outerShdw>
          </a:effectLst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55280" y="1691640"/>
            <a:ext cx="411480" cy="41148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8503920" y="1709928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Reading the segment</a:t>
            </a:r>
            <a:endParaRPr lang="en-US" sz="1500" dirty="0"/>
          </a:p>
        </p:txBody>
      </p:sp>
      <p:sp>
        <p:nvSpPr>
          <p:cNvPr id="8" name="Text 4"/>
          <p:cNvSpPr/>
          <p:nvPr/>
        </p:nvSpPr>
        <p:spPr>
          <a:xfrm>
            <a:off x="7955280" y="2240280"/>
            <a:ext cx="342900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rate, smaller pool: </a:t>
            </a:r>
            <a:endParaRPr lang="en-US" sz="1200" dirty="0"/>
          </a:p>
          <a:p>
            <a:pPr marL="0" indent="0">
              <a:lnSpc>
                <a:spcPct val="115000"/>
              </a:lnSpc>
              <a:spcAft>
                <a:spcPts val="1000"/>
              </a:spcAft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Students and retirees convert best, but represent under 1,200 combined contacts.</a:t>
            </a:r>
            <a:endParaRPr lang="en-US" sz="12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rate, bigger pool: </a:t>
            </a:r>
            <a:endParaRPr lang="en-US" sz="1200" dirty="0"/>
          </a:p>
          <a:p>
            <a:pPr marL="0" indent="0">
              <a:lnSpc>
                <a:spcPct val="115000"/>
              </a:lnSpc>
              <a:spcAft>
                <a:spcPts val="1000"/>
              </a:spcAft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Management (2,566 contacts) still converts above average — the larger volume opportunity.</a:t>
            </a:r>
            <a:endParaRPr lang="en-US" sz="12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Lowest priority: </a:t>
            </a:r>
            <a:endParaRPr lang="en-US" sz="12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Blue-collar workers convert at roughly half the rate of students.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Risks and Opportunities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96012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could quietly undercut the next campaign — and where the leverage is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5394960" cy="3977640"/>
          </a:xfrm>
          <a:prstGeom prst="roundRect">
            <a:avLst>
              <a:gd name="adj" fmla="val 1839"/>
            </a:avLst>
          </a:prstGeom>
          <a:solidFill>
            <a:srgbClr val="F4F6FC"/>
          </a:solidFill>
          <a:ln/>
          <a:effectLst>
            <a:outerShdw blurRad="101600" dist="38100" dir="2700000" algn="bl" rotWithShape="0">
              <a:srgbClr val="1E2761">
                <a:alpha val="12000"/>
              </a:srgbClr>
            </a:outerShdw>
          </a:effectLst>
        </p:spPr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8680" y="1847088"/>
            <a:ext cx="365760" cy="36576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371600" y="187452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B326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Risks</a:t>
            </a:r>
            <a:endParaRPr lang="en-US" sz="1700" dirty="0"/>
          </a:p>
        </p:txBody>
      </p:sp>
      <p:sp>
        <p:nvSpPr>
          <p:cNvPr id="7" name="Text 4"/>
          <p:cNvSpPr/>
          <p:nvPr/>
        </p:nvSpPr>
        <p:spPr>
          <a:xfrm>
            <a:off x="868680" y="2423160"/>
            <a:ext cx="475488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50" b="1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Over-calling fatigue: </a:t>
            </a:r>
            <a:endParaRPr lang="en-US" sz="1250" dirty="0"/>
          </a:p>
          <a:p>
            <a:pPr marL="0" indent="0">
              <a:lnSpc>
                <a:spcPct val="115000"/>
              </a:lnSpc>
              <a:spcAft>
                <a:spcPts val="1200"/>
              </a:spcAft>
              <a:buNone/>
            </a:pPr>
            <a:r>
              <a:rPr lang="en-US" sz="125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Conversion falls from 53.4% (1 call) to 29.2% (6+ calls) — repeat dialing is burning goodwill and budget.</a:t>
            </a:r>
            <a:endParaRPr lang="en-US" sz="12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250" b="1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Segment over-reliance: </a:t>
            </a:r>
            <a:endParaRPr lang="en-US" sz="1250" dirty="0"/>
          </a:p>
          <a:p>
            <a:pPr marL="0" indent="0">
              <a:lnSpc>
                <a:spcPct val="115000"/>
              </a:lnSpc>
              <a:spcAft>
                <a:spcPts val="1200"/>
              </a:spcAft>
              <a:buNone/>
            </a:pPr>
            <a:r>
              <a:rPr lang="en-US" sz="125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Leaning too heavily on small high-converting groups (students, retirees) limits scale.</a:t>
            </a:r>
            <a:endParaRPr lang="en-US" sz="12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250" b="1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Weak-month spend: </a:t>
            </a:r>
            <a:endParaRPr lang="en-US" sz="12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May contacts convert at 32.8%, well under the 47.4% baseline — budget risk if volume isn't shifted.</a:t>
            </a:r>
            <a:endParaRPr lang="en-US" sz="1250" dirty="0"/>
          </a:p>
        </p:txBody>
      </p:sp>
      <p:sp>
        <p:nvSpPr>
          <p:cNvPr id="8" name="Shape 5"/>
          <p:cNvSpPr/>
          <p:nvPr/>
        </p:nvSpPr>
        <p:spPr>
          <a:xfrm>
            <a:off x="6126480" y="1600200"/>
            <a:ext cx="5394960" cy="3977640"/>
          </a:xfrm>
          <a:prstGeom prst="roundRect">
            <a:avLst>
              <a:gd name="adj" fmla="val 1839"/>
            </a:avLst>
          </a:prstGeom>
          <a:solidFill>
            <a:srgbClr val="1E2761"/>
          </a:solidFill>
          <a:ln/>
          <a:effectLst>
            <a:outerShdw blurRad="101600" dist="38100" dir="2700000" algn="bl" rotWithShape="0">
              <a:srgbClr val="1E2761">
                <a:alpha val="12000"/>
              </a:srgbClr>
            </a:outerShdw>
          </a:effectLst>
        </p:spPr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46520" y="1847088"/>
            <a:ext cx="365760" cy="36576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6949440" y="187452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8FD19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Opportunities</a:t>
            </a:r>
            <a:endParaRPr lang="en-US" sz="1700" dirty="0"/>
          </a:p>
        </p:txBody>
      </p:sp>
      <p:sp>
        <p:nvSpPr>
          <p:cNvPr id="11" name="Text 7"/>
          <p:cNvSpPr/>
          <p:nvPr/>
        </p:nvSpPr>
        <p:spPr>
          <a:xfrm>
            <a:off x="6446520" y="2423160"/>
            <a:ext cx="475488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Warm-lead priority: </a:t>
            </a:r>
            <a:endParaRPr lang="en-US" sz="1250" dirty="0"/>
          </a:p>
          <a:p>
            <a:pPr marL="0" indent="0">
              <a:lnSpc>
                <a:spcPct val="115000"/>
              </a:lnSpc>
              <a:spcAft>
                <a:spcPts val="1200"/>
              </a:spcAft>
              <a:buNone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Prior-success contacts convert at 91.3% — the single strongest lever available.</a:t>
            </a:r>
            <a:endParaRPr lang="en-US" sz="12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Channel fix: </a:t>
            </a:r>
            <a:endParaRPr lang="en-US" sz="1250" dirty="0"/>
          </a:p>
          <a:p>
            <a:pPr marL="0" indent="0">
              <a:lnSpc>
                <a:spcPct val="115000"/>
              </a:lnSpc>
              <a:spcAft>
                <a:spcPts val="1200"/>
              </a:spcAft>
              <a:buNone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Shifting “unknown-method” contacts to cellular alone could lift response meaningfully.</a:t>
            </a:r>
            <a:endParaRPr lang="en-US" sz="12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Seasonal timing: </a:t>
            </a:r>
            <a:endParaRPr lang="en-US" sz="12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Dec, Mar, Sep and Oct convert 2-3x better than May — a low-cost scheduling win.</a:t>
            </a:r>
            <a:endParaRPr lang="en-US" sz="12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280160" y="4206240"/>
            <a:ext cx="2926080" cy="2926080"/>
          </a:xfrm>
          <a:prstGeom prst="ellipse">
            <a:avLst/>
          </a:prstGeom>
          <a:solidFill>
            <a:srgbClr val="141B49"/>
          </a:solidFill>
          <a:ln/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502920"/>
            <a:ext cx="502920" cy="50292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188720" y="502920"/>
            <a:ext cx="9601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Recommendations for the Next Campaign</a:t>
            </a:r>
            <a:endParaRPr lang="en-US" sz="2800" dirty="0"/>
          </a:p>
        </p:txBody>
      </p:sp>
      <p:sp>
        <p:nvSpPr>
          <p:cNvPr id="5" name="Shape 2"/>
          <p:cNvSpPr/>
          <p:nvPr/>
        </p:nvSpPr>
        <p:spPr>
          <a:xfrm>
            <a:off x="548640" y="1371600"/>
            <a:ext cx="5394960" cy="1691640"/>
          </a:xfrm>
          <a:prstGeom prst="roundRect">
            <a:avLst>
              <a:gd name="adj" fmla="val 4324"/>
            </a:avLst>
          </a:prstGeom>
          <a:solidFill>
            <a:srgbClr val="26307A"/>
          </a:solidFill>
          <a:ln/>
        </p:spPr>
      </p:sp>
      <p:sp>
        <p:nvSpPr>
          <p:cNvPr id="6" name="Text 3"/>
          <p:cNvSpPr/>
          <p:nvPr/>
        </p:nvSpPr>
        <p:spPr>
          <a:xfrm>
            <a:off x="777240" y="15544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C9A2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600" dirty="0"/>
          </a:p>
        </p:txBody>
      </p:sp>
      <p:sp>
        <p:nvSpPr>
          <p:cNvPr id="7" name="Text 4"/>
          <p:cNvSpPr/>
          <p:nvPr/>
        </p:nvSpPr>
        <p:spPr>
          <a:xfrm>
            <a:off x="1417320" y="1572768"/>
            <a:ext cx="4297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Re-prioritize the call list by contact history</a:t>
            </a:r>
            <a:endParaRPr lang="en-US" sz="1450" dirty="0"/>
          </a:p>
        </p:txBody>
      </p:sp>
      <p:sp>
        <p:nvSpPr>
          <p:cNvPr id="8" name="Text 5"/>
          <p:cNvSpPr/>
          <p:nvPr/>
        </p:nvSpPr>
        <p:spPr>
          <a:xfrm>
            <a:off x="1417320" y="2084832"/>
            <a:ext cx="4297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Call prior-successes and previously-reached customers first — they convert 2x the cold-list rate.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6217920" y="1371600"/>
            <a:ext cx="5394960" cy="1691640"/>
          </a:xfrm>
          <a:prstGeom prst="roundRect">
            <a:avLst>
              <a:gd name="adj" fmla="val 4324"/>
            </a:avLst>
          </a:prstGeom>
          <a:solidFill>
            <a:srgbClr val="26307A"/>
          </a:solidFill>
          <a:ln/>
        </p:spPr>
      </p:sp>
      <p:sp>
        <p:nvSpPr>
          <p:cNvPr id="10" name="Text 7"/>
          <p:cNvSpPr/>
          <p:nvPr/>
        </p:nvSpPr>
        <p:spPr>
          <a:xfrm>
            <a:off x="6446520" y="15544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C9A2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600" dirty="0"/>
          </a:p>
        </p:txBody>
      </p:sp>
      <p:sp>
        <p:nvSpPr>
          <p:cNvPr id="11" name="Text 8"/>
          <p:cNvSpPr/>
          <p:nvPr/>
        </p:nvSpPr>
        <p:spPr>
          <a:xfrm>
            <a:off x="7086600" y="1572768"/>
            <a:ext cx="4297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 outreach at 3 attempts per customer</a:t>
            </a:r>
            <a:endParaRPr lang="en-US" sz="1450" dirty="0"/>
          </a:p>
        </p:txBody>
      </p:sp>
      <p:sp>
        <p:nvSpPr>
          <p:cNvPr id="12" name="Text 9"/>
          <p:cNvSpPr/>
          <p:nvPr/>
        </p:nvSpPr>
        <p:spPr>
          <a:xfrm>
            <a:off x="7086600" y="2084832"/>
            <a:ext cx="4297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Redirect effort from the 6+ call group, where returns turn negative, into fresh leads.</a:t>
            </a:r>
            <a:endParaRPr lang="en-US" sz="1200" dirty="0"/>
          </a:p>
        </p:txBody>
      </p:sp>
      <p:sp>
        <p:nvSpPr>
          <p:cNvPr id="13" name="Shape 10"/>
          <p:cNvSpPr/>
          <p:nvPr/>
        </p:nvSpPr>
        <p:spPr>
          <a:xfrm>
            <a:off x="548640" y="3291840"/>
            <a:ext cx="5394960" cy="1691640"/>
          </a:xfrm>
          <a:prstGeom prst="roundRect">
            <a:avLst>
              <a:gd name="adj" fmla="val 4324"/>
            </a:avLst>
          </a:prstGeom>
          <a:solidFill>
            <a:srgbClr val="26307A"/>
          </a:solidFill>
          <a:ln/>
        </p:spPr>
      </p:sp>
      <p:sp>
        <p:nvSpPr>
          <p:cNvPr id="14" name="Text 11"/>
          <p:cNvSpPr/>
          <p:nvPr/>
        </p:nvSpPr>
        <p:spPr>
          <a:xfrm>
            <a:off x="777240" y="34747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C9A2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600" dirty="0"/>
          </a:p>
        </p:txBody>
      </p:sp>
      <p:sp>
        <p:nvSpPr>
          <p:cNvPr id="15" name="Text 12"/>
          <p:cNvSpPr/>
          <p:nvPr/>
        </p:nvSpPr>
        <p:spPr>
          <a:xfrm>
            <a:off x="1417320" y="3493008"/>
            <a:ext cx="4297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 cellular contact wherever possible</a:t>
            </a:r>
            <a:endParaRPr lang="en-US" sz="1450" dirty="0"/>
          </a:p>
        </p:txBody>
      </p:sp>
      <p:sp>
        <p:nvSpPr>
          <p:cNvPr id="16" name="Text 13"/>
          <p:cNvSpPr/>
          <p:nvPr/>
        </p:nvSpPr>
        <p:spPr>
          <a:xfrm>
            <a:off x="1417320" y="4005072"/>
            <a:ext cx="4297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Deprioritize “unknown-method” leads until a working number is sourced.</a:t>
            </a:r>
            <a:endParaRPr lang="en-US" sz="1200" dirty="0"/>
          </a:p>
        </p:txBody>
      </p:sp>
      <p:sp>
        <p:nvSpPr>
          <p:cNvPr id="17" name="Shape 14"/>
          <p:cNvSpPr/>
          <p:nvPr/>
        </p:nvSpPr>
        <p:spPr>
          <a:xfrm>
            <a:off x="6217920" y="3291840"/>
            <a:ext cx="5394960" cy="1691640"/>
          </a:xfrm>
          <a:prstGeom prst="roundRect">
            <a:avLst>
              <a:gd name="adj" fmla="val 4324"/>
            </a:avLst>
          </a:prstGeom>
          <a:solidFill>
            <a:srgbClr val="26307A"/>
          </a:solidFill>
          <a:ln/>
        </p:spPr>
      </p:sp>
      <p:sp>
        <p:nvSpPr>
          <p:cNvPr id="18" name="Text 15"/>
          <p:cNvSpPr/>
          <p:nvPr/>
        </p:nvSpPr>
        <p:spPr>
          <a:xfrm>
            <a:off x="6446520" y="34747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C9A2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600" dirty="0"/>
          </a:p>
        </p:txBody>
      </p:sp>
      <p:sp>
        <p:nvSpPr>
          <p:cNvPr id="19" name="Text 16"/>
          <p:cNvSpPr/>
          <p:nvPr/>
        </p:nvSpPr>
        <p:spPr>
          <a:xfrm>
            <a:off x="7086600" y="3493008"/>
            <a:ext cx="4297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Shift campaign weight to Sep–Dec and March</a:t>
            </a:r>
            <a:endParaRPr lang="en-US" sz="1450" dirty="0"/>
          </a:p>
        </p:txBody>
      </p:sp>
      <p:sp>
        <p:nvSpPr>
          <p:cNvPr id="20" name="Text 17"/>
          <p:cNvSpPr/>
          <p:nvPr/>
        </p:nvSpPr>
        <p:spPr>
          <a:xfrm>
            <a:off x="7086600" y="4005072"/>
            <a:ext cx="4297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Treat May as lower priority or pair it with a stronger incentive to offset the seasonal dip.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555</Words>
  <Application>Microsoft Office PowerPoint</Application>
  <PresentationFormat>Widescreen</PresentationFormat>
  <Paragraphs>75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0" baseType="lpstr">
      <vt:lpstr>Arial</vt:lpstr>
      <vt:lpstr>Calibri</vt:lpstr>
      <vt:lpstr>Cambria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Bank Term Deposit Campaign Analysis</dc:title>
  <dc:subject>PptxGenJS Presentation</dc:subject>
  <dc:creator>Blessing Chineyenwa Chiagorom</dc:creator>
  <cp:lastModifiedBy>USER</cp:lastModifiedBy>
  <cp:revision>2</cp:revision>
  <dcterms:created xsi:type="dcterms:W3CDTF">2026-07-07T18:22:34Z</dcterms:created>
  <dcterms:modified xsi:type="dcterms:W3CDTF">2026-07-07T18:29:21Z</dcterms:modified>
</cp:coreProperties>
</file>